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6" r:id="rId13"/>
  </p:sldIdLst>
  <p:sldSz cx="9144000" cy="5143500" type="screen16x9"/>
  <p:notesSz cx="6858000" cy="9144000"/>
  <p:embeddedFontLst>
    <p:embeddedFont>
      <p:font typeface="Manrope" panose="020B0604020202020204" charset="0"/>
      <p:regular r:id="rId15"/>
      <p:bold r:id="rId16"/>
    </p:embeddedFont>
    <p:embeddedFont>
      <p:font typeface="Manrope SemiBold" panose="020B0604020202020204" charset="0"/>
      <p:regular r:id="rId17"/>
      <p:bold r:id="rId1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902" y="7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b6c7e62156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b6c7e62156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b6c7e62156_0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b6c7e62156_0_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b6c7e62156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b6c7e62156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b6c7e62156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b6c7e62156_0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b6c7e62156_0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b6c7e62156_0_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b6c7e62156_0_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b6c7e62156_0_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b6c7e62156_0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b6c7e62156_0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b6c7e62156_0_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b6c7e62156_0_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b6c7e62156_0_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b6c7e62156_0_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b6c7e62156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b6c7e62156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0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descr="AI for Bharat Hackathon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/>
          <p:nvPr/>
        </p:nvSpPr>
        <p:spPr>
          <a:xfrm>
            <a:off x="383675" y="3446998"/>
            <a:ext cx="8520600" cy="44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>
              <a:lnSpc>
                <a:spcPct val="80000"/>
              </a:lnSpc>
            </a:pPr>
            <a:r>
              <a:rPr lang="en-GB" sz="1600" dirty="0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Team Name : </a:t>
            </a:r>
            <a:r>
              <a:rPr lang="en-GB" sz="1600" dirty="0" err="1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KrishiMitra</a:t>
            </a:r>
            <a:r>
              <a:rPr lang="en-GB" sz="1600" dirty="0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-AI</a:t>
            </a:r>
            <a:endParaRPr sz="1600" dirty="0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383680" y="4207727"/>
            <a:ext cx="8520600" cy="5724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>
              <a:lnSpc>
                <a:spcPct val="70000"/>
              </a:lnSpc>
            </a:pPr>
            <a:r>
              <a:rPr lang="en-GB" sz="1600" dirty="0">
                <a:solidFill>
                  <a:srgbClr val="202729"/>
                </a:solidFill>
                <a:latin typeface="Manrope SemiBold"/>
                <a:sym typeface="Manrope SemiBold"/>
              </a:rPr>
              <a:t>Problem Statement : </a:t>
            </a:r>
            <a:r>
              <a:rPr lang="en-US" sz="1600" dirty="0">
                <a:solidFill>
                  <a:srgbClr val="202729"/>
                </a:solidFill>
                <a:latin typeface="Manrope SemiBold"/>
              </a:rPr>
              <a:t>Build an AI-powered solution that supports rural ecosystems, sustainability, and resource-efficient systems.</a:t>
            </a:r>
            <a:endParaRPr sz="1600" dirty="0">
              <a:solidFill>
                <a:srgbClr val="202729"/>
              </a:solidFill>
              <a:latin typeface="Manrope SemiBold"/>
              <a:sym typeface="Manrope SemiBold"/>
            </a:endParaRPr>
          </a:p>
        </p:txBody>
      </p:sp>
      <p:sp>
        <p:nvSpPr>
          <p:cNvPr id="57" name="Google Shape;57;p13"/>
          <p:cNvSpPr txBox="1"/>
          <p:nvPr/>
        </p:nvSpPr>
        <p:spPr>
          <a:xfrm>
            <a:off x="383663" y="3854458"/>
            <a:ext cx="8520600" cy="44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dirty="0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Team Leader Name : Sagar Tate</a:t>
            </a:r>
            <a:endParaRPr sz="1600" dirty="0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Google Shape;62;p14" descr="AI for Bharat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14"/>
          <p:cNvSpPr txBox="1"/>
          <p:nvPr/>
        </p:nvSpPr>
        <p:spPr>
          <a:xfrm>
            <a:off x="310896" y="859536"/>
            <a:ext cx="7534656" cy="3666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lang="en-IN" sz="1700" b="1" dirty="0">
                <a:solidFill>
                  <a:srgbClr val="202729"/>
                </a:solidFill>
                <a:latin typeface="Manrope"/>
              </a:rPr>
              <a:t>Brief About the Idea</a:t>
            </a:r>
            <a:endParaRPr lang="en-IN" sz="1700" b="1" dirty="0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marL="0" indent="0">
              <a:buNone/>
            </a:pPr>
            <a:endParaRPr sz="1700" b="1" dirty="0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marL="0" indent="0" algn="l">
              <a:buNone/>
            </a:pPr>
            <a:r>
              <a:rPr sz="1500" b="1" dirty="0" err="1">
                <a:solidFill>
                  <a:srgbClr val="1B7A3D"/>
                </a:solidFill>
                <a:latin typeface="Manrope"/>
              </a:rPr>
              <a:t>KrishiMitra</a:t>
            </a:r>
            <a:r>
              <a:rPr sz="1500" b="1" dirty="0">
                <a:solidFill>
                  <a:srgbClr val="1B7A3D"/>
                </a:solidFill>
                <a:latin typeface="Manrope"/>
              </a:rPr>
              <a:t>-AI</a:t>
            </a:r>
          </a:p>
          <a:p>
            <a:pPr marL="0" indent="0">
              <a:buNone/>
            </a:pPr>
            <a:endParaRPr sz="1500" b="1" dirty="0">
              <a:solidFill>
                <a:srgbClr val="1B7A3D"/>
              </a:solidFill>
              <a:latin typeface="Manrope"/>
            </a:endParaRPr>
          </a:p>
          <a:p>
            <a:pPr marL="0" indent="0" algn="l">
              <a:buNone/>
            </a:pPr>
            <a:r>
              <a:rPr sz="1300" b="0" dirty="0">
                <a:solidFill>
                  <a:srgbClr val="202729"/>
                </a:solidFill>
                <a:latin typeface="Manrope SemiBold"/>
              </a:rPr>
              <a:t>An AI-powered Rural Decision Intelligence Platform designed to empower smallholder farmers with:</a:t>
            </a:r>
          </a:p>
          <a:p>
            <a:pPr marL="0" indent="0">
              <a:buNone/>
            </a:pPr>
            <a:endParaRPr sz="1300" b="0" dirty="0">
              <a:solidFill>
                <a:srgbClr val="202729"/>
              </a:solidFill>
              <a:latin typeface="Manrope SemiBold"/>
            </a:endParaRPr>
          </a:p>
          <a:p>
            <a:pPr marL="457200" indent="-330200" algn="l">
              <a:buClr>
                <a:srgbClr val="202729"/>
              </a:buClr>
              <a:buSzPts val="1300"/>
              <a:buFont typeface="Manrope SemiBold"/>
              <a:buChar char="●"/>
            </a:pPr>
            <a:r>
              <a:rPr sz="1300" b="0" dirty="0">
                <a:solidFill>
                  <a:srgbClr val="202729"/>
                </a:solidFill>
                <a:latin typeface="Manrope SemiBold"/>
              </a:rPr>
              <a:t>Market intelligence</a:t>
            </a:r>
          </a:p>
          <a:p>
            <a:pPr marL="457200" indent="-330200" algn="l">
              <a:buClr>
                <a:srgbClr val="202729"/>
              </a:buClr>
              <a:buSzPts val="1300"/>
              <a:buFont typeface="Manrope SemiBold"/>
              <a:buChar char="●"/>
            </a:pPr>
            <a:r>
              <a:rPr sz="1300" b="0" dirty="0">
                <a:solidFill>
                  <a:srgbClr val="202729"/>
                </a:solidFill>
                <a:latin typeface="Manrope SemiBold"/>
              </a:rPr>
              <a:t>Climate risk insights</a:t>
            </a:r>
          </a:p>
          <a:p>
            <a:pPr marL="457200" indent="-330200" algn="l">
              <a:buClr>
                <a:srgbClr val="202729"/>
              </a:buClr>
              <a:buSzPts val="1300"/>
              <a:buFont typeface="Manrope SemiBold"/>
              <a:buChar char="●"/>
            </a:pPr>
            <a:r>
              <a:rPr sz="1300" b="0" dirty="0">
                <a:solidFill>
                  <a:srgbClr val="202729"/>
                </a:solidFill>
                <a:latin typeface="Manrope SemiBold"/>
              </a:rPr>
              <a:t>Sustainability analytics</a:t>
            </a:r>
          </a:p>
          <a:p>
            <a:pPr marL="457200" indent="-330200" algn="l">
              <a:buClr>
                <a:srgbClr val="202729"/>
              </a:buClr>
              <a:buSzPts val="1300"/>
              <a:buFont typeface="Manrope SemiBold"/>
              <a:buChar char="●"/>
            </a:pPr>
            <a:r>
              <a:rPr sz="1300" b="0" dirty="0">
                <a:solidFill>
                  <a:srgbClr val="202729"/>
                </a:solidFill>
                <a:latin typeface="Manrope SemiBold"/>
              </a:rPr>
              <a:t>Responsible multilingual AI assistance</a:t>
            </a:r>
          </a:p>
          <a:p>
            <a:pPr marL="0" indent="0">
              <a:buNone/>
            </a:pPr>
            <a:endParaRPr sz="1300" b="0" dirty="0">
              <a:solidFill>
                <a:srgbClr val="202729"/>
              </a:solidFill>
              <a:latin typeface="Manrope SemiBold"/>
            </a:endParaRPr>
          </a:p>
          <a:p>
            <a:pPr marL="0" indent="0" algn="l">
              <a:buNone/>
            </a:pPr>
            <a:r>
              <a:rPr sz="1200" b="0" dirty="0" err="1">
                <a:solidFill>
                  <a:srgbClr val="202729"/>
                </a:solidFill>
                <a:latin typeface="Manrope SemiBold"/>
              </a:rPr>
              <a:t>KrishiMitra</a:t>
            </a:r>
            <a:r>
              <a:rPr sz="1200" b="0" dirty="0">
                <a:solidFill>
                  <a:srgbClr val="202729"/>
                </a:solidFill>
                <a:latin typeface="Manrope SemiBold"/>
              </a:rPr>
              <a:t>-AI bridges the information gap in rural ecosystems by providing explainable, safe, and scalable AI support tailored for low-bandwidth and regional language users.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Google Shape;68;p15" descr="AI for Bharat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5"/>
          <p:cNvSpPr txBox="1"/>
          <p:nvPr/>
        </p:nvSpPr>
        <p:spPr>
          <a:xfrm>
            <a:off x="310896" y="859536"/>
            <a:ext cx="7534656" cy="3666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sz="1700" b="1">
                <a:solidFill>
                  <a:srgbClr val="202729"/>
                </a:solidFill>
                <a:latin typeface="Manrope"/>
              </a:rPr>
              <a:t>Problem We Are Solving</a:t>
            </a:r>
            <a:endParaRPr sz="1700" b="1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marL="0" indent="0">
              <a:buNone/>
            </a:pPr>
            <a:endParaRPr sz="1700" b="1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marL="0" indent="0" algn="l">
              <a:buNone/>
            </a:pPr>
            <a:r>
              <a:rPr sz="1400" b="1">
                <a:solidFill>
                  <a:srgbClr val="202729"/>
                </a:solidFill>
                <a:latin typeface="Manrope"/>
              </a:rPr>
              <a:t>Smallholder farmers face:</a:t>
            </a:r>
          </a:p>
          <a:p>
            <a:pPr marL="457200" indent="-330200" algn="l">
              <a:buClr>
                <a:srgbClr val="202729"/>
              </a:buClr>
              <a:buSzPts val="1300"/>
              <a:buFont typeface="Manrope SemiBold"/>
              <a:buChar char="●"/>
            </a:pPr>
            <a:r>
              <a:rPr sz="1300" b="0">
                <a:solidFill>
                  <a:srgbClr val="202729"/>
                </a:solidFill>
                <a:latin typeface="Manrope SemiBold"/>
              </a:rPr>
              <a:t>Lack of transparent market price information</a:t>
            </a:r>
          </a:p>
          <a:p>
            <a:pPr marL="457200" indent="-330200" algn="l">
              <a:buClr>
                <a:srgbClr val="202729"/>
              </a:buClr>
              <a:buSzPts val="1300"/>
              <a:buFont typeface="Manrope SemiBold"/>
              <a:buChar char="●"/>
            </a:pPr>
            <a:r>
              <a:rPr sz="1300" b="0">
                <a:solidFill>
                  <a:srgbClr val="202729"/>
                </a:solidFill>
                <a:latin typeface="Manrope SemiBold"/>
              </a:rPr>
              <a:t>Uncertain weather and climate risks</a:t>
            </a:r>
          </a:p>
          <a:p>
            <a:pPr marL="457200" indent="-330200" algn="l">
              <a:buClr>
                <a:srgbClr val="202729"/>
              </a:buClr>
              <a:buSzPts val="1300"/>
              <a:buFont typeface="Manrope SemiBold"/>
              <a:buChar char="●"/>
            </a:pPr>
            <a:r>
              <a:rPr sz="1300" b="0">
                <a:solidFill>
                  <a:srgbClr val="202729"/>
                </a:solidFill>
                <a:latin typeface="Manrope SemiBold"/>
              </a:rPr>
              <a:t>Limited advisory support</a:t>
            </a:r>
          </a:p>
          <a:p>
            <a:pPr marL="457200" indent="-330200" algn="l">
              <a:buClr>
                <a:srgbClr val="202729"/>
              </a:buClr>
              <a:buSzPts val="1300"/>
              <a:buFont typeface="Manrope SemiBold"/>
              <a:buChar char="●"/>
            </a:pPr>
            <a:r>
              <a:rPr sz="1300" b="0">
                <a:solidFill>
                  <a:srgbClr val="202729"/>
                </a:solidFill>
                <a:latin typeface="Manrope SemiBold"/>
              </a:rPr>
              <a:t>Inefficient water and input usage</a:t>
            </a:r>
          </a:p>
          <a:p>
            <a:pPr marL="457200" indent="-330200" algn="l">
              <a:buClr>
                <a:srgbClr val="202729"/>
              </a:buClr>
              <a:buSzPts val="1300"/>
              <a:buFont typeface="Manrope SemiBold"/>
              <a:buChar char="●"/>
            </a:pPr>
            <a:r>
              <a:rPr sz="1300" b="0">
                <a:solidFill>
                  <a:srgbClr val="202729"/>
                </a:solidFill>
                <a:latin typeface="Manrope SemiBold"/>
              </a:rPr>
              <a:t>Language and connectivity barriers</a:t>
            </a:r>
          </a:p>
          <a:p>
            <a:pPr marL="0" indent="0">
              <a:buNone/>
            </a:pPr>
            <a:endParaRPr sz="1300" b="0">
              <a:solidFill>
                <a:srgbClr val="202729"/>
              </a:solidFill>
              <a:latin typeface="Manrope SemiBold"/>
            </a:endParaRPr>
          </a:p>
          <a:p>
            <a:pPr marL="0" indent="0" algn="l">
              <a:buNone/>
            </a:pPr>
            <a:r>
              <a:rPr sz="1400" b="1">
                <a:solidFill>
                  <a:srgbClr val="202729"/>
                </a:solidFill>
                <a:latin typeface="Manrope"/>
              </a:rPr>
              <a:t>This leads to:</a:t>
            </a:r>
          </a:p>
          <a:p>
            <a:pPr marL="457200" indent="-330200" algn="l">
              <a:buClr>
                <a:srgbClr val="202729"/>
              </a:buClr>
              <a:buSzPts val="1300"/>
              <a:buFont typeface="Manrope SemiBold"/>
              <a:buChar char="●"/>
            </a:pPr>
            <a:r>
              <a:rPr sz="1300" b="0">
                <a:solidFill>
                  <a:srgbClr val="202729"/>
                </a:solidFill>
                <a:latin typeface="Manrope SemiBold"/>
              </a:rPr>
              <a:t>Poor pricing decisions</a:t>
            </a:r>
          </a:p>
          <a:p>
            <a:pPr marL="457200" indent="-330200" algn="l">
              <a:buClr>
                <a:srgbClr val="202729"/>
              </a:buClr>
              <a:buSzPts val="1300"/>
              <a:buFont typeface="Manrope SemiBold"/>
              <a:buChar char="●"/>
            </a:pPr>
            <a:r>
              <a:rPr sz="1300" b="0">
                <a:solidFill>
                  <a:srgbClr val="202729"/>
                </a:solidFill>
                <a:latin typeface="Manrope SemiBold"/>
              </a:rPr>
              <a:t>Income instability</a:t>
            </a:r>
          </a:p>
          <a:p>
            <a:pPr marL="457200" indent="-330200" algn="l">
              <a:buClr>
                <a:srgbClr val="202729"/>
              </a:buClr>
              <a:buSzPts val="1300"/>
              <a:buFont typeface="Manrope SemiBold"/>
              <a:buChar char="●"/>
            </a:pPr>
            <a:r>
              <a:rPr sz="1300" b="0">
                <a:solidFill>
                  <a:srgbClr val="202729"/>
                </a:solidFill>
                <a:latin typeface="Manrope SemiBold"/>
              </a:rPr>
              <a:t>Resource wastage</a:t>
            </a:r>
          </a:p>
          <a:p>
            <a:pPr marL="457200" indent="-330200" algn="l">
              <a:buClr>
                <a:srgbClr val="202729"/>
              </a:buClr>
              <a:buSzPts val="1300"/>
              <a:buFont typeface="Manrope SemiBold"/>
              <a:buChar char="●"/>
            </a:pPr>
            <a:r>
              <a:rPr sz="1300" b="0">
                <a:solidFill>
                  <a:srgbClr val="202729"/>
                </a:solidFill>
                <a:latin typeface="Manrope SemiBold"/>
              </a:rPr>
              <a:t>Increased vulnerability to climate change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16" descr="AI for Bharat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6"/>
          <p:cNvSpPr txBox="1"/>
          <p:nvPr/>
        </p:nvSpPr>
        <p:spPr>
          <a:xfrm>
            <a:off x="310896" y="859536"/>
            <a:ext cx="7534656" cy="3666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sz="1700" b="1">
                <a:solidFill>
                  <a:srgbClr val="202729"/>
                </a:solidFill>
                <a:latin typeface="Manrope"/>
              </a:rPr>
              <a:t>How Is Our Solution Different?</a:t>
            </a:r>
            <a:endParaRPr sz="1700" b="1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marL="0" indent="0">
              <a:buNone/>
            </a:pPr>
            <a:endParaRPr sz="1700" b="1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marL="457200" indent="-330200" algn="l">
              <a:buClr>
                <a:srgbClr val="1B7A3D"/>
              </a:buClr>
              <a:buSzPts val="1300"/>
              <a:buFont typeface="Manrope SemiBold"/>
              <a:buChar char="●"/>
            </a:pPr>
            <a:r>
              <a:rPr sz="1300" b="0">
                <a:solidFill>
                  <a:srgbClr val="1B7A3D"/>
                </a:solidFill>
                <a:latin typeface="Manrope SemiBold"/>
              </a:rPr>
              <a:t>Decision Intelligence, not just Chatbot</a:t>
            </a:r>
          </a:p>
          <a:p>
            <a:pPr marL="800100" lvl="1" indent="-285750" algn="l">
              <a:buClr>
                <a:srgbClr val="202729"/>
              </a:buClr>
              <a:buSzPts val="1200"/>
              <a:buFont typeface="Manrope SemiBold"/>
              <a:buChar char="–"/>
            </a:pPr>
            <a:r>
              <a:rPr sz="1200" b="0">
                <a:solidFill>
                  <a:srgbClr val="202729"/>
                </a:solidFill>
                <a:latin typeface="Manrope SemiBold"/>
              </a:rPr>
              <a:t>Net-profit-based market recommendations</a:t>
            </a:r>
          </a:p>
          <a:p>
            <a:pPr marL="800100" lvl="1" indent="-285750" algn="l">
              <a:buClr>
                <a:srgbClr val="202729"/>
              </a:buClr>
              <a:buSzPts val="1200"/>
              <a:buFont typeface="Manrope SemiBold"/>
              <a:buChar char="–"/>
            </a:pPr>
            <a:r>
              <a:rPr sz="1200" b="0">
                <a:solidFill>
                  <a:srgbClr val="202729"/>
                </a:solidFill>
                <a:latin typeface="Manrope SemiBold"/>
              </a:rPr>
              <a:t>Transport cost estimation &amp; volatility-aware forecasts</a:t>
            </a:r>
          </a:p>
          <a:p>
            <a:pPr marL="0" indent="0">
              <a:buNone/>
            </a:pPr>
            <a:endParaRPr sz="1200" b="0">
              <a:solidFill>
                <a:srgbClr val="202729"/>
              </a:solidFill>
              <a:latin typeface="Manrope SemiBold"/>
            </a:endParaRPr>
          </a:p>
          <a:p>
            <a:pPr marL="457200" indent="-330200" algn="l">
              <a:buClr>
                <a:srgbClr val="1B7A3D"/>
              </a:buClr>
              <a:buSzPts val="1300"/>
              <a:buFont typeface="Manrope SemiBold"/>
              <a:buChar char="●"/>
            </a:pPr>
            <a:r>
              <a:rPr sz="1300" b="0">
                <a:solidFill>
                  <a:srgbClr val="1B7A3D"/>
                </a:solidFill>
                <a:latin typeface="Manrope SemiBold"/>
              </a:rPr>
              <a:t>Explainable AI</a:t>
            </a:r>
          </a:p>
          <a:p>
            <a:pPr marL="800100" lvl="1" indent="-285750" algn="l">
              <a:buClr>
                <a:srgbClr val="202729"/>
              </a:buClr>
              <a:buSzPts val="1200"/>
              <a:buFont typeface="Manrope SemiBold"/>
              <a:buChar char="–"/>
            </a:pPr>
            <a:r>
              <a:rPr sz="1200" b="0">
                <a:solidFill>
                  <a:srgbClr val="202729"/>
                </a:solidFill>
                <a:latin typeface="Manrope SemiBold"/>
              </a:rPr>
              <a:t>Top contributing factors, confidence scores, citation-backed responses</a:t>
            </a:r>
          </a:p>
          <a:p>
            <a:pPr marL="0" indent="0">
              <a:buNone/>
            </a:pPr>
            <a:endParaRPr sz="1200" b="0">
              <a:solidFill>
                <a:srgbClr val="202729"/>
              </a:solidFill>
              <a:latin typeface="Manrope SemiBold"/>
            </a:endParaRPr>
          </a:p>
          <a:p>
            <a:pPr marL="457200" indent="-330200" algn="l">
              <a:buClr>
                <a:srgbClr val="1B7A3D"/>
              </a:buClr>
              <a:buSzPts val="1300"/>
              <a:buFont typeface="Manrope SemiBold"/>
              <a:buChar char="●"/>
            </a:pPr>
            <a:r>
              <a:rPr sz="1300" b="0">
                <a:solidFill>
                  <a:srgbClr val="1B7A3D"/>
                </a:solidFill>
                <a:latin typeface="Manrope SemiBold"/>
              </a:rPr>
              <a:t>Responsible AI by Design</a:t>
            </a:r>
          </a:p>
          <a:p>
            <a:pPr marL="800100" lvl="1" indent="-285750" algn="l">
              <a:buClr>
                <a:srgbClr val="202729"/>
              </a:buClr>
              <a:buSzPts val="1200"/>
              <a:buFont typeface="Manrope SemiBold"/>
              <a:buChar char="–"/>
            </a:pPr>
            <a:r>
              <a:rPr sz="1200" b="0">
                <a:solidFill>
                  <a:srgbClr val="202729"/>
                </a:solidFill>
                <a:latin typeface="Manrope SemiBold"/>
              </a:rPr>
              <a:t>Chemical dosage refusal, prompt injection protection, uncertainty handling</a:t>
            </a:r>
          </a:p>
          <a:p>
            <a:pPr marL="0" indent="0">
              <a:buNone/>
            </a:pPr>
            <a:endParaRPr sz="1200" b="0">
              <a:solidFill>
                <a:srgbClr val="202729"/>
              </a:solidFill>
              <a:latin typeface="Manrope SemiBold"/>
            </a:endParaRPr>
          </a:p>
          <a:p>
            <a:pPr marL="457200" indent="-330200" algn="l">
              <a:buClr>
                <a:srgbClr val="1B7A3D"/>
              </a:buClr>
              <a:buSzPts val="1300"/>
              <a:buFont typeface="Manrope SemiBold"/>
              <a:buChar char="●"/>
            </a:pPr>
            <a:r>
              <a:rPr sz="1300" b="0">
                <a:solidFill>
                  <a:srgbClr val="1B7A3D"/>
                </a:solidFill>
                <a:latin typeface="Manrope SemiBold"/>
              </a:rPr>
              <a:t>Sustainability Built-In</a:t>
            </a:r>
          </a:p>
          <a:p>
            <a:pPr marL="800100" lvl="1" indent="-285750" algn="l">
              <a:buClr>
                <a:srgbClr val="202729"/>
              </a:buClr>
              <a:buSzPts val="1200"/>
              <a:buFont typeface="Manrope SemiBold"/>
              <a:buChar char="–"/>
            </a:pPr>
            <a:r>
              <a:rPr sz="1200" b="0">
                <a:solidFill>
                  <a:srgbClr val="202729"/>
                </a:solidFill>
                <a:latin typeface="Manrope SemiBold"/>
              </a:rPr>
              <a:t>Water efficiency benchmarking, climate risk index, resource optimization</a:t>
            </a:r>
          </a:p>
          <a:p>
            <a:pPr marL="0" indent="0">
              <a:buNone/>
            </a:pPr>
            <a:endParaRPr sz="1200" b="0">
              <a:solidFill>
                <a:srgbClr val="202729"/>
              </a:solidFill>
              <a:latin typeface="Manrope SemiBold"/>
            </a:endParaRPr>
          </a:p>
          <a:p>
            <a:pPr marL="457200" indent="-330200" algn="l">
              <a:buClr>
                <a:srgbClr val="1B7A3D"/>
              </a:buClr>
              <a:buSzPts val="1300"/>
              <a:buFont typeface="Manrope SemiBold"/>
              <a:buChar char="●"/>
            </a:pPr>
            <a:r>
              <a:rPr sz="1300" b="0">
                <a:solidFill>
                  <a:srgbClr val="1B7A3D"/>
                </a:solidFill>
                <a:latin typeface="Manrope SemiBold"/>
              </a:rPr>
              <a:t>Offline-First &amp; Multilingual</a:t>
            </a:r>
          </a:p>
          <a:p>
            <a:pPr marL="800100" lvl="1" indent="-285750" algn="l">
              <a:buClr>
                <a:srgbClr val="202729"/>
              </a:buClr>
              <a:buSzPts val="1200"/>
              <a:buFont typeface="Manrope SemiBold"/>
              <a:buChar char="–"/>
            </a:pPr>
            <a:r>
              <a:rPr sz="1200" b="0">
                <a:solidFill>
                  <a:srgbClr val="202729"/>
                </a:solidFill>
                <a:latin typeface="Manrope SemiBold"/>
              </a:rPr>
              <a:t>Progressive Web App, low-bandwidth mode, regional language support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Google Shape;80;p17" descr="AI for Bharat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17"/>
          <p:cNvSpPr txBox="1"/>
          <p:nvPr/>
        </p:nvSpPr>
        <p:spPr>
          <a:xfrm>
            <a:off x="310896" y="859536"/>
            <a:ext cx="7534656" cy="3666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sz="1700" b="1">
                <a:solidFill>
                  <a:srgbClr val="202729"/>
                </a:solidFill>
                <a:latin typeface="Manrope"/>
              </a:rPr>
              <a:t>USP (Unique Selling Proposition)</a:t>
            </a:r>
            <a:endParaRPr sz="1700" b="1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marL="0" indent="0">
              <a:buNone/>
            </a:pPr>
            <a:endParaRPr sz="1700" b="1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marL="0" indent="0" algn="l">
              <a:buNone/>
            </a:pPr>
            <a:r>
              <a:rPr sz="1400" b="0">
                <a:solidFill>
                  <a:srgbClr val="202729"/>
                </a:solidFill>
                <a:latin typeface="Manrope SemiBold"/>
              </a:rPr>
              <a:t>KrishiMitra-AI is the first integrated platform that combines:</a:t>
            </a:r>
          </a:p>
          <a:p>
            <a:pPr marL="0" indent="0">
              <a:buNone/>
            </a:pPr>
            <a:endParaRPr sz="1400" b="0">
              <a:solidFill>
                <a:srgbClr val="202729"/>
              </a:solidFill>
              <a:latin typeface="Manrope SemiBold"/>
            </a:endParaRPr>
          </a:p>
          <a:p>
            <a:pPr marL="457200" indent="-330200" algn="l">
              <a:buClr>
                <a:srgbClr val="202729"/>
              </a:buClr>
              <a:buSzPts val="1400"/>
              <a:buFont typeface="Manrope SemiBold"/>
              <a:buChar char="●"/>
            </a:pPr>
            <a:r>
              <a:rPr sz="1400" b="0">
                <a:solidFill>
                  <a:srgbClr val="202729"/>
                </a:solidFill>
                <a:latin typeface="Manrope SemiBold"/>
              </a:rPr>
              <a:t>AI Copilot</a:t>
            </a:r>
          </a:p>
          <a:p>
            <a:pPr marL="457200" indent="-330200" algn="l">
              <a:buClr>
                <a:srgbClr val="202729"/>
              </a:buClr>
              <a:buSzPts val="1400"/>
              <a:buFont typeface="Manrope SemiBold"/>
              <a:buChar char="●"/>
            </a:pPr>
            <a:r>
              <a:rPr sz="1400" b="0">
                <a:solidFill>
                  <a:srgbClr val="202729"/>
                </a:solidFill>
                <a:latin typeface="Manrope SemiBold"/>
              </a:rPr>
              <a:t>Market Forecasting</a:t>
            </a:r>
          </a:p>
          <a:p>
            <a:pPr marL="457200" indent="-330200" algn="l">
              <a:buClr>
                <a:srgbClr val="202729"/>
              </a:buClr>
              <a:buSzPts val="1400"/>
              <a:buFont typeface="Manrope SemiBold"/>
              <a:buChar char="●"/>
            </a:pPr>
            <a:r>
              <a:rPr sz="1400" b="0">
                <a:solidFill>
                  <a:srgbClr val="202729"/>
                </a:solidFill>
                <a:latin typeface="Manrope SemiBold"/>
              </a:rPr>
              <a:t>Sustainability Analytics</a:t>
            </a:r>
          </a:p>
          <a:p>
            <a:pPr marL="457200" indent="-330200" algn="l">
              <a:buClr>
                <a:srgbClr val="202729"/>
              </a:buClr>
              <a:buSzPts val="1400"/>
              <a:buFont typeface="Manrope SemiBold"/>
              <a:buChar char="●"/>
            </a:pPr>
            <a:r>
              <a:rPr sz="1400" b="0">
                <a:solidFill>
                  <a:srgbClr val="202729"/>
                </a:solidFill>
                <a:latin typeface="Manrope SemiBold"/>
              </a:rPr>
              <a:t>Climate Risk Alerts</a:t>
            </a:r>
          </a:p>
          <a:p>
            <a:pPr marL="457200" indent="-330200" algn="l">
              <a:buClr>
                <a:srgbClr val="202729"/>
              </a:buClr>
              <a:buSzPts val="1400"/>
              <a:buFont typeface="Manrope SemiBold"/>
              <a:buChar char="●"/>
            </a:pPr>
            <a:r>
              <a:rPr sz="1400" b="0">
                <a:solidFill>
                  <a:srgbClr val="202729"/>
                </a:solidFill>
                <a:latin typeface="Manrope SemiBold"/>
              </a:rPr>
              <a:t>Crop Disease Vision AI</a:t>
            </a:r>
          </a:p>
          <a:p>
            <a:pPr marL="0" indent="0">
              <a:buNone/>
            </a:pPr>
            <a:endParaRPr sz="1400" b="0">
              <a:solidFill>
                <a:srgbClr val="202729"/>
              </a:solidFill>
              <a:latin typeface="Manrope SemiBold"/>
            </a:endParaRPr>
          </a:p>
          <a:p>
            <a:pPr marL="0" indent="0" algn="l">
              <a:buNone/>
            </a:pPr>
            <a:r>
              <a:rPr sz="1300" b="1">
                <a:solidFill>
                  <a:srgbClr val="1B7A3D"/>
                </a:solidFill>
                <a:latin typeface="Manrope"/>
              </a:rPr>
              <a:t>All within a multi-tenant, scalable SaaS architecture designed specifically for rural India.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Google Shape;86;p18" descr="AI for Bharat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84583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8"/>
          <p:cNvSpPr txBox="1"/>
          <p:nvPr/>
        </p:nvSpPr>
        <p:spPr>
          <a:xfrm>
            <a:off x="310896" y="859536"/>
            <a:ext cx="7534656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sz="1700" b="1">
                <a:solidFill>
                  <a:srgbClr val="202729"/>
                </a:solidFill>
                <a:latin typeface="Manrope"/>
              </a:rPr>
              <a:t>Key Features</a:t>
            </a:r>
            <a:endParaRPr sz="1700" b="1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88" name="Rounded Rectangle 87"/>
          <p:cNvSpPr/>
          <p:nvPr/>
        </p:nvSpPr>
        <p:spPr>
          <a:xfrm>
            <a:off x="720742" y="1380744"/>
            <a:ext cx="3520440" cy="960120"/>
          </a:xfrm>
          <a:prstGeom prst="roundRect">
            <a:avLst/>
          </a:prstGeom>
          <a:solidFill>
            <a:srgbClr val="1A56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25" tIns="72000" rIns="91425" bIns="45000" rtlCol="0" anchor="t"/>
          <a:lstStyle/>
          <a:p>
            <a:pPr marL="0" indent="0" algn="l">
              <a:buNone/>
            </a:pPr>
            <a:r>
              <a:rPr sz="1100" b="1" dirty="0">
                <a:solidFill>
                  <a:srgbClr val="FFFFFF"/>
                </a:solidFill>
                <a:latin typeface="Manrope"/>
              </a:rPr>
              <a:t>Market Intelligence</a:t>
            </a:r>
          </a:p>
          <a:p>
            <a:pPr marL="0" indent="0" algn="l">
              <a:buNone/>
            </a:pPr>
            <a:r>
              <a:rPr sz="900" b="0" dirty="0">
                <a:solidFill>
                  <a:srgbClr val="E0E0E0"/>
                </a:solidFill>
                <a:latin typeface="Manrope SemiBold"/>
              </a:rPr>
              <a:t>Price comparison across markets</a:t>
            </a:r>
          </a:p>
          <a:p>
            <a:pPr marL="0" indent="0" algn="l">
              <a:buNone/>
            </a:pPr>
            <a:r>
              <a:rPr sz="900" b="0" dirty="0">
                <a:solidFill>
                  <a:srgbClr val="E0E0E0"/>
                </a:solidFill>
                <a:latin typeface="Manrope SemiBold"/>
              </a:rPr>
              <a:t>Profit-based ranking</a:t>
            </a:r>
          </a:p>
          <a:p>
            <a:pPr marL="0" indent="0" algn="l">
              <a:buNone/>
            </a:pPr>
            <a:r>
              <a:rPr sz="900" b="0" dirty="0">
                <a:solidFill>
                  <a:srgbClr val="E0E0E0"/>
                </a:solidFill>
                <a:latin typeface="Manrope SemiBold"/>
              </a:rPr>
              <a:t>Forecast with confidence intervals</a:t>
            </a:r>
          </a:p>
          <a:p>
            <a:pPr marL="0" indent="0" algn="l">
              <a:buNone/>
            </a:pPr>
            <a:r>
              <a:rPr sz="900" b="0" dirty="0">
                <a:solidFill>
                  <a:srgbClr val="E0E0E0"/>
                </a:solidFill>
                <a:latin typeface="Manrope SemiBold"/>
              </a:rPr>
              <a:t>Price alerts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4902819" y="1399032"/>
            <a:ext cx="3520440" cy="960120"/>
          </a:xfrm>
          <a:prstGeom prst="round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25" tIns="72000" rIns="91425" bIns="45000" rtlCol="0" anchor="t"/>
          <a:lstStyle/>
          <a:p>
            <a:pPr marL="0" indent="0" algn="l">
              <a:buNone/>
            </a:pPr>
            <a:r>
              <a:rPr sz="1100" b="1" dirty="0">
                <a:solidFill>
                  <a:srgbClr val="FFFFFF"/>
                </a:solidFill>
                <a:latin typeface="Manrope"/>
              </a:rPr>
              <a:t>Climate Risk Intelligence</a:t>
            </a:r>
          </a:p>
          <a:p>
            <a:pPr marL="0" indent="0" algn="l">
              <a:buNone/>
            </a:pPr>
            <a:r>
              <a:rPr sz="900" b="0" dirty="0">
                <a:solidFill>
                  <a:srgbClr val="E0E0E0"/>
                </a:solidFill>
                <a:latin typeface="Manrope SemiBold"/>
              </a:rPr>
              <a:t>7-day risk index</a:t>
            </a:r>
          </a:p>
          <a:p>
            <a:pPr marL="0" indent="0" algn="l">
              <a:buNone/>
            </a:pPr>
            <a:r>
              <a:rPr sz="900" b="0" dirty="0">
                <a:solidFill>
                  <a:srgbClr val="E0E0E0"/>
                </a:solidFill>
                <a:latin typeface="Manrope SemiBold"/>
              </a:rPr>
              <a:t>Heat, drought, rainfall alerts</a:t>
            </a:r>
          </a:p>
          <a:p>
            <a:pPr marL="0" indent="0" algn="l">
              <a:buNone/>
            </a:pPr>
            <a:r>
              <a:rPr sz="900" b="0" dirty="0">
                <a:solidFill>
                  <a:srgbClr val="E0E0E0"/>
                </a:solidFill>
                <a:latin typeface="Manrope SemiBold"/>
              </a:rPr>
              <a:t>Preventive guidance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720742" y="2491330"/>
            <a:ext cx="3520440" cy="960120"/>
          </a:xfrm>
          <a:prstGeom prst="roundRect">
            <a:avLst/>
          </a:prstGeom>
          <a:solidFill>
            <a:srgbClr val="1B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25" tIns="72000" rIns="91425" bIns="45000" rtlCol="0" anchor="t"/>
          <a:lstStyle/>
          <a:p>
            <a:pPr marL="0" indent="0" algn="l">
              <a:buNone/>
            </a:pPr>
            <a:r>
              <a:rPr sz="1100" b="1">
                <a:solidFill>
                  <a:srgbClr val="FFFFFF"/>
                </a:solidFill>
                <a:latin typeface="Manrope"/>
              </a:rPr>
              <a:t>Sustainability Analytics</a:t>
            </a:r>
          </a:p>
          <a:p>
            <a:pPr marL="0" indent="0" algn="l">
              <a:buNone/>
            </a:pPr>
            <a:r>
              <a:rPr sz="900" b="0">
                <a:solidFill>
                  <a:srgbClr val="E0E0E0"/>
                </a:solidFill>
                <a:latin typeface="Manrope SemiBold"/>
              </a:rPr>
              <a:t>Water efficiency rating</a:t>
            </a:r>
          </a:p>
          <a:p>
            <a:pPr marL="0" indent="0" algn="l">
              <a:buNone/>
            </a:pPr>
            <a:r>
              <a:rPr sz="900" b="0">
                <a:solidFill>
                  <a:srgbClr val="E0E0E0"/>
                </a:solidFill>
                <a:latin typeface="Manrope SemiBold"/>
              </a:rPr>
              <a:t>Input cost tracking</a:t>
            </a:r>
          </a:p>
          <a:p>
            <a:pPr marL="0" indent="0" algn="l">
              <a:buNone/>
            </a:pPr>
            <a:r>
              <a:rPr sz="900" b="0">
                <a:solidFill>
                  <a:srgbClr val="E0E0E0"/>
                </a:solidFill>
                <a:latin typeface="Manrope SemiBold"/>
              </a:rPr>
              <a:t>Benchmark comparison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4902818" y="2491330"/>
            <a:ext cx="3520440" cy="960120"/>
          </a:xfrm>
          <a:prstGeom prst="roundRect">
            <a:avLst/>
          </a:prstGeom>
          <a:solidFill>
            <a:srgbClr val="3A86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25" tIns="72000" rIns="91425" bIns="45000" rtlCol="0" anchor="t"/>
          <a:lstStyle/>
          <a:p>
            <a:pPr marL="0" indent="0" algn="l">
              <a:buNone/>
            </a:pPr>
            <a:r>
              <a:rPr sz="1100" b="1" dirty="0">
                <a:solidFill>
                  <a:srgbClr val="FFFFFF"/>
                </a:solidFill>
                <a:latin typeface="Manrope"/>
              </a:rPr>
              <a:t>AI Assistant</a:t>
            </a:r>
          </a:p>
          <a:p>
            <a:pPr marL="0" indent="0" algn="l">
              <a:buNone/>
            </a:pPr>
            <a:r>
              <a:rPr sz="900" b="0" dirty="0">
                <a:solidFill>
                  <a:srgbClr val="E0E0E0"/>
                </a:solidFill>
                <a:latin typeface="Manrope SemiBold"/>
              </a:rPr>
              <a:t>Multilingual conversational support</a:t>
            </a:r>
          </a:p>
          <a:p>
            <a:pPr marL="0" indent="0" algn="l">
              <a:buNone/>
            </a:pPr>
            <a:r>
              <a:rPr sz="900" b="0" dirty="0">
                <a:solidFill>
                  <a:srgbClr val="E0E0E0"/>
                </a:solidFill>
                <a:latin typeface="Manrope SemiBold"/>
              </a:rPr>
              <a:t>Citation-based responses</a:t>
            </a:r>
          </a:p>
          <a:p>
            <a:pPr marL="0" indent="0" algn="l">
              <a:buNone/>
            </a:pPr>
            <a:r>
              <a:rPr sz="900" b="0" dirty="0">
                <a:solidFill>
                  <a:srgbClr val="E0E0E0"/>
                </a:solidFill>
                <a:latin typeface="Manrope SemiBold"/>
              </a:rPr>
              <a:t>Safety guardrails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720742" y="3606300"/>
            <a:ext cx="3520440" cy="960120"/>
          </a:xfrm>
          <a:prstGeom prst="roundRect">
            <a:avLst/>
          </a:prstGeom>
          <a:solidFill>
            <a:srgbClr val="8B5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25" tIns="72000" rIns="91425" bIns="45000" rtlCol="0" anchor="t"/>
          <a:lstStyle/>
          <a:p>
            <a:pPr marL="0" indent="0" algn="l">
              <a:buNone/>
            </a:pPr>
            <a:r>
              <a:rPr sz="1100" b="1" dirty="0">
                <a:solidFill>
                  <a:srgbClr val="FFFFFF"/>
                </a:solidFill>
                <a:latin typeface="Manrope"/>
              </a:rPr>
              <a:t>Crop Disease Detection</a:t>
            </a:r>
          </a:p>
          <a:p>
            <a:pPr marL="0" indent="0" algn="l">
              <a:buNone/>
            </a:pPr>
            <a:r>
              <a:rPr sz="900" b="0" dirty="0">
                <a:solidFill>
                  <a:srgbClr val="E0E0E0"/>
                </a:solidFill>
                <a:latin typeface="Manrope SemiBold"/>
              </a:rPr>
              <a:t>Image classification</a:t>
            </a:r>
          </a:p>
          <a:p>
            <a:pPr marL="0" indent="0" algn="l">
              <a:buNone/>
            </a:pPr>
            <a:r>
              <a:rPr sz="900" b="0" dirty="0">
                <a:solidFill>
                  <a:srgbClr val="E0E0E0"/>
                </a:solidFill>
                <a:latin typeface="Manrope SemiBold"/>
              </a:rPr>
              <a:t>Confidence threshold</a:t>
            </a:r>
          </a:p>
          <a:p>
            <a:pPr marL="0" indent="0" algn="l">
              <a:buNone/>
            </a:pPr>
            <a:r>
              <a:rPr sz="900" b="0" dirty="0">
                <a:solidFill>
                  <a:srgbClr val="E0E0E0"/>
                </a:solidFill>
                <a:latin typeface="Manrope SemiBold"/>
              </a:rPr>
              <a:t>Safe treatment suggestions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4902818" y="3579466"/>
            <a:ext cx="3520440" cy="960120"/>
          </a:xfrm>
          <a:prstGeom prst="roundRect">
            <a:avLst/>
          </a:prstGeom>
          <a:solidFill>
            <a:srgbClr val="6C7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25" tIns="72000" rIns="91425" bIns="45000" rtlCol="0" anchor="t"/>
          <a:lstStyle/>
          <a:p>
            <a:pPr marL="0" indent="0" algn="l">
              <a:buNone/>
            </a:pPr>
            <a:r>
              <a:rPr sz="1100" b="1" dirty="0">
                <a:solidFill>
                  <a:srgbClr val="FFFFFF"/>
                </a:solidFill>
                <a:latin typeface="Manrope"/>
              </a:rPr>
              <a:t>Offline-First &amp; Multilingual</a:t>
            </a:r>
          </a:p>
          <a:p>
            <a:pPr marL="0" indent="0" algn="l">
              <a:buNone/>
            </a:pPr>
            <a:r>
              <a:rPr sz="900" b="0" dirty="0">
                <a:solidFill>
                  <a:srgbClr val="E0E0E0"/>
                </a:solidFill>
                <a:latin typeface="Manrope SemiBold"/>
              </a:rPr>
              <a:t>Progressive Web App</a:t>
            </a:r>
          </a:p>
          <a:p>
            <a:pPr marL="0" indent="0" algn="l">
              <a:buNone/>
            </a:pPr>
            <a:r>
              <a:rPr sz="900" b="0" dirty="0">
                <a:solidFill>
                  <a:srgbClr val="E0E0E0"/>
                </a:solidFill>
                <a:latin typeface="Manrope SemiBold"/>
              </a:rPr>
              <a:t>Low-bandwidth mode</a:t>
            </a:r>
          </a:p>
          <a:p>
            <a:pPr marL="0" indent="0" algn="l">
              <a:buNone/>
            </a:pPr>
            <a:r>
              <a:rPr sz="900" b="0" dirty="0">
                <a:solidFill>
                  <a:srgbClr val="E0E0E0"/>
                </a:solidFill>
                <a:latin typeface="Manrope SemiBold"/>
              </a:rPr>
              <a:t>5 Indian languages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9" descr="AI for Bharat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9"/>
          <p:cNvSpPr txBox="1"/>
          <p:nvPr/>
        </p:nvSpPr>
        <p:spPr>
          <a:xfrm>
            <a:off x="310896" y="859536"/>
            <a:ext cx="7534656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sz="1700" b="1">
                <a:solidFill>
                  <a:srgbClr val="202729"/>
                </a:solidFill>
                <a:latin typeface="Manrope"/>
              </a:rPr>
              <a:t>Process Flow Diagram</a:t>
            </a:r>
            <a:endParaRPr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94" name="Rounded Rectangle 93"/>
          <p:cNvSpPr/>
          <p:nvPr/>
        </p:nvSpPr>
        <p:spPr>
          <a:xfrm>
            <a:off x="1828800" y="1417320"/>
            <a:ext cx="5120640" cy="475488"/>
          </a:xfrm>
          <a:prstGeom prst="roundRect">
            <a:avLst/>
          </a:prstGeom>
          <a:solidFill>
            <a:srgbClr val="1A56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ctr"/>
          <a:lstStyle/>
          <a:p>
            <a:pPr marL="0" indent="0" algn="ctr">
              <a:buNone/>
            </a:pPr>
            <a:r>
              <a:rPr sz="1050" b="1">
                <a:solidFill>
                  <a:srgbClr val="FFFFFF"/>
                </a:solidFill>
                <a:latin typeface="Manrope"/>
              </a:rPr>
              <a:t>User Onboarding</a:t>
            </a:r>
          </a:p>
          <a:p>
            <a:pPr marL="0" indent="0" algn="ctr">
              <a:buNone/>
            </a:pPr>
            <a:r>
              <a:rPr sz="850" b="0">
                <a:solidFill>
                  <a:srgbClr val="E0E0E0"/>
                </a:solidFill>
                <a:latin typeface="Manrope SemiBold"/>
              </a:rPr>
              <a:t>Select Language → Create Farm Profile</a:t>
            </a:r>
          </a:p>
        </p:txBody>
      </p:sp>
      <p:sp>
        <p:nvSpPr>
          <p:cNvPr id="95" name="Down Arrow 9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288536" y="1947672"/>
            <a:ext cx="201168" cy="182880"/>
          </a:xfrm>
          <a:prstGeom prst="downArrow">
            <a:avLst/>
          </a:prstGeom>
          <a:solidFill>
            <a:srgbClr val="1A56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Rounded Rectangle 95"/>
          <p:cNvSpPr/>
          <p:nvPr/>
        </p:nvSpPr>
        <p:spPr>
          <a:xfrm>
            <a:off x="1828800" y="2185416"/>
            <a:ext cx="5120640" cy="475488"/>
          </a:xfrm>
          <a:prstGeom prst="round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ctr"/>
          <a:lstStyle/>
          <a:p>
            <a:pPr marL="0" indent="0" algn="ctr">
              <a:buNone/>
            </a:pPr>
            <a:r>
              <a:rPr sz="1050" b="1">
                <a:solidFill>
                  <a:srgbClr val="FFFFFF"/>
                </a:solidFill>
                <a:latin typeface="Manrope"/>
              </a:rPr>
              <a:t>User Action</a:t>
            </a:r>
          </a:p>
          <a:p>
            <a:pPr marL="0" indent="0" algn="ctr">
              <a:buNone/>
            </a:pPr>
            <a:r>
              <a:rPr sz="850" b="0">
                <a:solidFill>
                  <a:srgbClr val="E0E0E0"/>
                </a:solidFill>
                <a:latin typeface="Manrope SemiBold"/>
              </a:rPr>
              <a:t>Ask AI / Upload Image / View Market Data</a:t>
            </a:r>
          </a:p>
        </p:txBody>
      </p:sp>
      <p:sp>
        <p:nvSpPr>
          <p:cNvPr id="97" name="Down Arrow 9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288536" y="2715768"/>
            <a:ext cx="201168" cy="182880"/>
          </a:xfrm>
          <a:prstGeom prst="downArrow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Rounded Rectangle 97"/>
          <p:cNvSpPr/>
          <p:nvPr/>
        </p:nvSpPr>
        <p:spPr>
          <a:xfrm>
            <a:off x="1828800" y="2953512"/>
            <a:ext cx="5120640" cy="475488"/>
          </a:xfrm>
          <a:prstGeom prst="roundRect">
            <a:avLst/>
          </a:prstGeom>
          <a:solidFill>
            <a:srgbClr val="1B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ctr"/>
          <a:lstStyle/>
          <a:p>
            <a:pPr marL="0" indent="0" algn="ctr">
              <a:buNone/>
            </a:pPr>
            <a:r>
              <a:rPr sz="1050" b="1">
                <a:solidFill>
                  <a:srgbClr val="FFFFFF"/>
                </a:solidFill>
                <a:latin typeface="Manrope"/>
              </a:rPr>
              <a:t>System Processing</a:t>
            </a:r>
          </a:p>
          <a:p>
            <a:pPr marL="0" indent="0" algn="ctr">
              <a:buNone/>
            </a:pPr>
            <a:r>
              <a:rPr sz="850" b="0">
                <a:solidFill>
                  <a:srgbClr val="E0E0E0"/>
                </a:solidFill>
                <a:latin typeface="Manrope SemiBold"/>
              </a:rPr>
              <a:t>RAG Retrieval  |  Forecast  |  Risk Analysis  |  Disease Classification</a:t>
            </a:r>
          </a:p>
        </p:txBody>
      </p:sp>
      <p:sp>
        <p:nvSpPr>
          <p:cNvPr id="99" name="Down Arrow 9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288536" y="3483864"/>
            <a:ext cx="201168" cy="182880"/>
          </a:xfrm>
          <a:prstGeom prst="downArrow">
            <a:avLst/>
          </a:prstGeom>
          <a:solidFill>
            <a:srgbClr val="1B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Rounded Rectangle 99"/>
          <p:cNvSpPr/>
          <p:nvPr/>
        </p:nvSpPr>
        <p:spPr>
          <a:xfrm>
            <a:off x="1828800" y="3721608"/>
            <a:ext cx="5120640" cy="475488"/>
          </a:xfrm>
          <a:prstGeom prst="roundRect">
            <a:avLst/>
          </a:prstGeom>
          <a:solidFill>
            <a:srgbClr val="3A86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ctr"/>
          <a:lstStyle/>
          <a:p>
            <a:pPr marL="0" indent="0" algn="ctr">
              <a:buNone/>
            </a:pPr>
            <a:r>
              <a:rPr sz="1050" b="1">
                <a:solidFill>
                  <a:srgbClr val="FFFFFF"/>
                </a:solidFill>
                <a:latin typeface="Manrope"/>
              </a:rPr>
              <a:t>Response Delivered</a:t>
            </a:r>
          </a:p>
          <a:p>
            <a:pPr marL="0" indent="0" algn="ctr">
              <a:buNone/>
            </a:pPr>
            <a:r>
              <a:rPr sz="850" b="0">
                <a:solidFill>
                  <a:srgbClr val="E0E0E0"/>
                </a:solidFill>
                <a:latin typeface="Manrope SemiBold"/>
              </a:rPr>
              <a:t>Explanation + Confidence Score + Citation + Disclaimer</a:t>
            </a:r>
          </a:p>
        </p:txBody>
      </p:sp>
      <p:sp>
        <p:nvSpPr>
          <p:cNvPr id="101" name="Down Arrow 10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288536" y="4251960"/>
            <a:ext cx="201168" cy="182880"/>
          </a:xfrm>
          <a:prstGeom prst="downArrow">
            <a:avLst/>
          </a:prstGeom>
          <a:solidFill>
            <a:srgbClr val="3A86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Rounded Rectangle 101"/>
          <p:cNvSpPr/>
          <p:nvPr/>
        </p:nvSpPr>
        <p:spPr>
          <a:xfrm>
            <a:off x="1828800" y="4489704"/>
            <a:ext cx="5120640" cy="475488"/>
          </a:xfrm>
          <a:prstGeom prst="roundRect">
            <a:avLst/>
          </a:prstGeom>
          <a:solidFill>
            <a:srgbClr val="6C7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ctr"/>
          <a:lstStyle/>
          <a:p>
            <a:pPr marL="0" indent="0" algn="ctr">
              <a:buNone/>
            </a:pPr>
            <a:r>
              <a:rPr sz="1050" b="1">
                <a:solidFill>
                  <a:srgbClr val="FFFFFF"/>
                </a:solidFill>
                <a:latin typeface="Manrope"/>
              </a:rPr>
              <a:t>Alert Setup</a:t>
            </a:r>
          </a:p>
          <a:p>
            <a:pPr marL="0" indent="0" algn="ctr">
              <a:buNone/>
            </a:pPr>
            <a:r>
              <a:rPr sz="850" b="0">
                <a:solidFill>
                  <a:srgbClr val="E0E0E0"/>
                </a:solidFill>
                <a:latin typeface="Manrope SemiBold"/>
              </a:rPr>
              <a:t>Notifications via App / SMS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20" descr="AI for Bharat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20"/>
          <p:cNvSpPr txBox="1"/>
          <p:nvPr/>
        </p:nvSpPr>
        <p:spPr>
          <a:xfrm>
            <a:off x="310896" y="859536"/>
            <a:ext cx="7534656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sz="1700" b="1">
                <a:solidFill>
                  <a:srgbClr val="202729"/>
                </a:solidFill>
                <a:latin typeface="Manrope"/>
              </a:rPr>
              <a:t>Architecture Diagram</a:t>
            </a:r>
            <a:endParaRPr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00" name="Rounded Rectangle 99"/>
          <p:cNvSpPr/>
          <p:nvPr/>
        </p:nvSpPr>
        <p:spPr>
          <a:xfrm>
            <a:off x="1280160" y="1371600"/>
            <a:ext cx="6583680" cy="475488"/>
          </a:xfrm>
          <a:prstGeom prst="roundRect">
            <a:avLst/>
          </a:prstGeom>
          <a:solidFill>
            <a:srgbClr val="1A56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ctr"/>
          <a:lstStyle/>
          <a:p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Manrope"/>
              </a:rPr>
              <a:t>Client Layer</a:t>
            </a:r>
          </a:p>
          <a:p>
            <a:pPr marL="0" indent="0" algn="ctr">
              <a:buNone/>
            </a:pPr>
            <a:r>
              <a:rPr sz="850" b="0">
                <a:solidFill>
                  <a:srgbClr val="E0E0E0"/>
                </a:solidFill>
                <a:latin typeface="Manrope SemiBold"/>
              </a:rPr>
              <a:t>PWA  |  Mobile Browser  |  SMS / WhatsApp</a:t>
            </a:r>
          </a:p>
        </p:txBody>
      </p:sp>
      <p:sp>
        <p:nvSpPr>
          <p:cNvPr id="101" name="Down Arrow 10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471416" y="1933956"/>
            <a:ext cx="201168" cy="182880"/>
          </a:xfrm>
          <a:prstGeom prst="downArrow">
            <a:avLst/>
          </a:prstGeom>
          <a:solidFill>
            <a:srgbClr val="1A56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Rounded Rectangle 101"/>
          <p:cNvSpPr/>
          <p:nvPr/>
        </p:nvSpPr>
        <p:spPr>
          <a:xfrm>
            <a:off x="1280160" y="2162556"/>
            <a:ext cx="6583680" cy="475488"/>
          </a:xfrm>
          <a:prstGeom prst="round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ctr"/>
          <a:lstStyle/>
          <a:p>
            <a:pPr marL="0" indent="0" algn="ctr">
              <a:buNone/>
            </a:pPr>
            <a:r>
              <a:rPr sz="1100" b="1" dirty="0">
                <a:solidFill>
                  <a:srgbClr val="FFFFFF"/>
                </a:solidFill>
                <a:latin typeface="Manrope"/>
              </a:rPr>
              <a:t>API Gateway</a:t>
            </a:r>
          </a:p>
          <a:p>
            <a:pPr marL="0" indent="0" algn="ctr">
              <a:buNone/>
            </a:pPr>
            <a:r>
              <a:rPr sz="850" b="0" dirty="0">
                <a:solidFill>
                  <a:srgbClr val="E0E0E0"/>
                </a:solidFill>
                <a:latin typeface="Manrope SemiBold"/>
              </a:rPr>
              <a:t>Rate Limiting  |  Authentication  |  Routing  |  Load Balancing</a:t>
            </a:r>
          </a:p>
        </p:txBody>
      </p:sp>
      <p:sp>
        <p:nvSpPr>
          <p:cNvPr id="103" name="Down Arrow 10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471416" y="2692908"/>
            <a:ext cx="201168" cy="182880"/>
          </a:xfrm>
          <a:prstGeom prst="downArrow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Rounded Rectangle 103"/>
          <p:cNvSpPr/>
          <p:nvPr/>
        </p:nvSpPr>
        <p:spPr>
          <a:xfrm>
            <a:off x="1275700" y="2930652"/>
            <a:ext cx="6583680" cy="475488"/>
          </a:xfrm>
          <a:prstGeom prst="roundRect">
            <a:avLst/>
          </a:prstGeom>
          <a:solidFill>
            <a:srgbClr val="1B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ctr"/>
          <a:lstStyle/>
          <a:p>
            <a:pPr marL="0" indent="0" algn="ctr">
              <a:buNone/>
            </a:pPr>
            <a:r>
              <a:rPr sz="1100" b="1" dirty="0">
                <a:solidFill>
                  <a:srgbClr val="FFFFFF"/>
                </a:solidFill>
                <a:latin typeface="Manrope"/>
              </a:rPr>
              <a:t>Application Services</a:t>
            </a:r>
          </a:p>
          <a:p>
            <a:pPr marL="0" indent="0" algn="ctr">
              <a:buNone/>
            </a:pPr>
            <a:r>
              <a:rPr sz="850" b="0" dirty="0">
                <a:solidFill>
                  <a:srgbClr val="E0E0E0"/>
                </a:solidFill>
                <a:latin typeface="Manrope SemiBold"/>
              </a:rPr>
              <a:t>Auth  |  Farm  |  Market  |  AI  |  Sustainability  |  Alert</a:t>
            </a:r>
          </a:p>
        </p:txBody>
      </p:sp>
      <p:sp>
        <p:nvSpPr>
          <p:cNvPr id="105" name="Down Arrow 10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471416" y="3511296"/>
            <a:ext cx="201168" cy="182880"/>
          </a:xfrm>
          <a:prstGeom prst="downArrow">
            <a:avLst/>
          </a:prstGeom>
          <a:solidFill>
            <a:srgbClr val="1B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Rounded Rectangle 105"/>
          <p:cNvSpPr/>
          <p:nvPr/>
        </p:nvSpPr>
        <p:spPr>
          <a:xfrm>
            <a:off x="1280160" y="3721608"/>
            <a:ext cx="6583680" cy="475488"/>
          </a:xfrm>
          <a:prstGeom prst="roundRect">
            <a:avLst/>
          </a:prstGeom>
          <a:solidFill>
            <a:srgbClr val="3A86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ctr"/>
          <a:lstStyle/>
          <a:p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Manrope"/>
              </a:rPr>
              <a:t>Data Layer</a:t>
            </a:r>
          </a:p>
          <a:p>
            <a:pPr marL="0" indent="0" algn="ctr">
              <a:buNone/>
            </a:pPr>
            <a:r>
              <a:rPr sz="850" b="0">
                <a:solidFill>
                  <a:srgbClr val="E0E0E0"/>
                </a:solidFill>
                <a:latin typeface="Manrope SemiBold"/>
              </a:rPr>
              <a:t>PostgreSQL (RLS)  |  Redis Cache  |  pgvector  |  Object Storage</a:t>
            </a:r>
          </a:p>
        </p:txBody>
      </p:sp>
      <p:sp>
        <p:nvSpPr>
          <p:cNvPr id="107" name="Down Arrow 10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466956" y="4251960"/>
            <a:ext cx="201168" cy="182880"/>
          </a:xfrm>
          <a:prstGeom prst="downArrow">
            <a:avLst/>
          </a:prstGeom>
          <a:solidFill>
            <a:srgbClr val="3A86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Rounded Rectangle 107"/>
          <p:cNvSpPr/>
          <p:nvPr/>
        </p:nvSpPr>
        <p:spPr>
          <a:xfrm>
            <a:off x="1275700" y="4473703"/>
            <a:ext cx="6583680" cy="475488"/>
          </a:xfrm>
          <a:prstGeom prst="roundRect">
            <a:avLst/>
          </a:prstGeom>
          <a:solidFill>
            <a:srgbClr val="6C7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ctr"/>
          <a:lstStyle/>
          <a:p>
            <a:pPr marL="0" indent="0" algn="ctr">
              <a:buNone/>
            </a:pPr>
            <a:r>
              <a:rPr sz="1100" b="1" dirty="0">
                <a:solidFill>
                  <a:srgbClr val="FFFFFF"/>
                </a:solidFill>
                <a:latin typeface="Manrope"/>
              </a:rPr>
              <a:t>External APIs</a:t>
            </a:r>
          </a:p>
          <a:p>
            <a:pPr marL="0" indent="0" algn="ctr">
              <a:buNone/>
            </a:pPr>
            <a:r>
              <a:rPr sz="850" b="0" dirty="0">
                <a:solidFill>
                  <a:srgbClr val="E0E0E0"/>
                </a:solidFill>
                <a:latin typeface="Manrope SemiBold"/>
              </a:rPr>
              <a:t>LLM API  |  Vision API  |  Weather API  |  SMS Gateway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21" descr="AI for Bharat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21"/>
          <p:cNvSpPr txBox="1"/>
          <p:nvPr/>
        </p:nvSpPr>
        <p:spPr>
          <a:xfrm>
            <a:off x="310896" y="859536"/>
            <a:ext cx="7534656" cy="3666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sz="1700" b="1">
                <a:solidFill>
                  <a:srgbClr val="202729"/>
                </a:solidFill>
                <a:latin typeface="Manrope"/>
              </a:rPr>
              <a:t>Technologies Used</a:t>
            </a:r>
            <a:endParaRPr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marL="0" indent="0">
              <a:buNone/>
            </a:pPr>
            <a:endParaRPr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marL="457200" indent="-330200" algn="l">
              <a:buClr>
                <a:srgbClr val="1B7A3D"/>
              </a:buClr>
              <a:buSzPts val="1300"/>
              <a:buFont typeface="Manrope SemiBold"/>
              <a:buChar char="●"/>
            </a:pPr>
            <a:r>
              <a:rPr sz="1300" b="0">
                <a:solidFill>
                  <a:srgbClr val="1B7A3D"/>
                </a:solidFill>
                <a:latin typeface="Manrope SemiBold"/>
              </a:rPr>
              <a:t>Frontend</a:t>
            </a:r>
          </a:p>
          <a:p>
            <a:pPr marL="800100" lvl="1" indent="-285750" algn="l">
              <a:buClr>
                <a:srgbClr val="202729"/>
              </a:buClr>
              <a:buSzPts val="1200"/>
              <a:buFont typeface="Manrope SemiBold"/>
              <a:buChar char="–"/>
            </a:pPr>
            <a:r>
              <a:rPr sz="1200" b="0">
                <a:solidFill>
                  <a:srgbClr val="202729"/>
                </a:solidFill>
                <a:latin typeface="Manrope SemiBold"/>
              </a:rPr>
              <a:t>React + TypeScript (PWA)</a:t>
            </a:r>
          </a:p>
          <a:p>
            <a:pPr marL="0" indent="0">
              <a:buNone/>
            </a:pPr>
            <a:endParaRPr sz="1200" b="0">
              <a:solidFill>
                <a:srgbClr val="202729"/>
              </a:solidFill>
              <a:latin typeface="Manrope SemiBold"/>
            </a:endParaRPr>
          </a:p>
          <a:p>
            <a:pPr marL="457200" indent="-330200" algn="l">
              <a:buClr>
                <a:srgbClr val="1B7A3D"/>
              </a:buClr>
              <a:buSzPts val="1300"/>
              <a:buFont typeface="Manrope SemiBold"/>
              <a:buChar char="●"/>
            </a:pPr>
            <a:r>
              <a:rPr sz="1300" b="0">
                <a:solidFill>
                  <a:srgbClr val="1B7A3D"/>
                </a:solidFill>
                <a:latin typeface="Manrope SemiBold"/>
              </a:rPr>
              <a:t>Backend</a:t>
            </a:r>
          </a:p>
          <a:p>
            <a:pPr marL="800100" lvl="1" indent="-285750" algn="l">
              <a:buClr>
                <a:srgbClr val="202729"/>
              </a:buClr>
              <a:buSzPts val="1200"/>
              <a:buFont typeface="Manrope SemiBold"/>
              <a:buChar char="–"/>
            </a:pPr>
            <a:r>
              <a:rPr sz="1200" b="0">
                <a:solidFill>
                  <a:srgbClr val="202729"/>
                </a:solidFill>
                <a:latin typeface="Manrope SemiBold"/>
              </a:rPr>
              <a:t>Node.js + TypeScript, PostgreSQL (RLS), Redis, RabbitMQ</a:t>
            </a:r>
          </a:p>
          <a:p>
            <a:pPr marL="0" indent="0">
              <a:buNone/>
            </a:pPr>
            <a:endParaRPr sz="1200" b="0">
              <a:solidFill>
                <a:srgbClr val="202729"/>
              </a:solidFill>
              <a:latin typeface="Manrope SemiBold"/>
            </a:endParaRPr>
          </a:p>
          <a:p>
            <a:pPr marL="457200" indent="-330200" algn="l">
              <a:buClr>
                <a:srgbClr val="1B7A3D"/>
              </a:buClr>
              <a:buSzPts val="1300"/>
              <a:buFont typeface="Manrope SemiBold"/>
              <a:buChar char="●"/>
            </a:pPr>
            <a:r>
              <a:rPr sz="1300" b="0">
                <a:solidFill>
                  <a:srgbClr val="1B7A3D"/>
                </a:solidFill>
                <a:latin typeface="Manrope SemiBold"/>
              </a:rPr>
              <a:t>AI / ML</a:t>
            </a:r>
          </a:p>
          <a:p>
            <a:pPr marL="800100" lvl="1" indent="-285750" algn="l">
              <a:buClr>
                <a:srgbClr val="202729"/>
              </a:buClr>
              <a:buSzPts val="1200"/>
              <a:buFont typeface="Manrope SemiBold"/>
              <a:buChar char="–"/>
            </a:pPr>
            <a:r>
              <a:rPr sz="1200" b="0">
                <a:solidFill>
                  <a:srgbClr val="202729"/>
                </a:solidFill>
                <a:latin typeface="Manrope SemiBold"/>
              </a:rPr>
              <a:t>LLM (OpenAI / Azure OpenAI), RAG (pgvector)</a:t>
            </a:r>
          </a:p>
          <a:p>
            <a:pPr marL="800100" lvl="1" indent="-285750" algn="l">
              <a:buClr>
                <a:srgbClr val="202729"/>
              </a:buClr>
              <a:buSzPts val="1200"/>
              <a:buFont typeface="Manrope SemiBold"/>
              <a:buChar char="–"/>
            </a:pPr>
            <a:r>
              <a:rPr sz="1200" b="0">
                <a:solidFill>
                  <a:srgbClr val="202729"/>
                </a:solidFill>
                <a:latin typeface="Manrope SemiBold"/>
              </a:rPr>
              <a:t>ResNet / EfficientNet (Disease Classification), Speech APIs</a:t>
            </a:r>
          </a:p>
          <a:p>
            <a:pPr marL="0" indent="0">
              <a:buNone/>
            </a:pPr>
            <a:endParaRPr sz="1200" b="0">
              <a:solidFill>
                <a:srgbClr val="202729"/>
              </a:solidFill>
              <a:latin typeface="Manrope SemiBold"/>
            </a:endParaRPr>
          </a:p>
          <a:p>
            <a:pPr marL="457200" indent="-330200" algn="l">
              <a:buClr>
                <a:srgbClr val="1B7A3D"/>
              </a:buClr>
              <a:buSzPts val="1300"/>
              <a:buFont typeface="Manrope SemiBold"/>
              <a:buChar char="●"/>
            </a:pPr>
            <a:r>
              <a:rPr sz="1300" b="0">
                <a:solidFill>
                  <a:srgbClr val="1B7A3D"/>
                </a:solidFill>
                <a:latin typeface="Manrope SemiBold"/>
              </a:rPr>
              <a:t>Cloud &amp; Infrastructure</a:t>
            </a:r>
          </a:p>
          <a:p>
            <a:pPr marL="800100" lvl="1" indent="-285750" algn="l">
              <a:buClr>
                <a:srgbClr val="202729"/>
              </a:buClr>
              <a:buSzPts val="1200"/>
              <a:buFont typeface="Manrope SemiBold"/>
              <a:buChar char="–"/>
            </a:pPr>
            <a:r>
              <a:rPr sz="1200" b="0">
                <a:solidFill>
                  <a:srgbClr val="202729"/>
                </a:solidFill>
                <a:latin typeface="Manrope SemiBold"/>
              </a:rPr>
              <a:t>AWS / Azure, S3 Object Storage, CDN</a:t>
            </a:r>
          </a:p>
          <a:p>
            <a:pPr marL="0" indent="0">
              <a:buNone/>
            </a:pPr>
            <a:endParaRPr sz="1200" b="0">
              <a:solidFill>
                <a:srgbClr val="202729"/>
              </a:solidFill>
              <a:latin typeface="Manrope SemiBold"/>
            </a:endParaRPr>
          </a:p>
          <a:p>
            <a:pPr marL="457200" indent="-330200" algn="l">
              <a:buClr>
                <a:srgbClr val="1B7A3D"/>
              </a:buClr>
              <a:buSzPts val="1300"/>
              <a:buFont typeface="Manrope SemiBold"/>
              <a:buChar char="●"/>
            </a:pPr>
            <a:r>
              <a:rPr sz="1300" b="0">
                <a:solidFill>
                  <a:srgbClr val="1B7A3D"/>
                </a:solidFill>
                <a:latin typeface="Manrope SemiBold"/>
              </a:rPr>
              <a:t>Testing</a:t>
            </a:r>
          </a:p>
          <a:p>
            <a:pPr marL="800100" lvl="1" indent="-285750" algn="l">
              <a:buClr>
                <a:srgbClr val="202729"/>
              </a:buClr>
              <a:buSzPts val="1200"/>
              <a:buFont typeface="Manrope SemiBold"/>
              <a:buChar char="–"/>
            </a:pPr>
            <a:r>
              <a:rPr sz="1200" b="0">
                <a:solidFill>
                  <a:srgbClr val="202729"/>
                </a:solidFill>
                <a:latin typeface="Manrope SemiBold"/>
              </a:rPr>
              <a:t>Unit + Property-Based Testing, OWASP Security Testing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22" descr="AI for Bharat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22"/>
          <p:cNvSpPr txBox="1"/>
          <p:nvPr/>
        </p:nvSpPr>
        <p:spPr>
          <a:xfrm>
            <a:off x="310896" y="859536"/>
            <a:ext cx="7534656" cy="3666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935"/>
              <a:buFont typeface="Arial"/>
              <a:buNone/>
            </a:pPr>
            <a:r>
              <a:rPr sz="1700" b="1">
                <a:solidFill>
                  <a:srgbClr val="202729"/>
                </a:solidFill>
                <a:latin typeface="Manrope"/>
              </a:rPr>
              <a:t>Estimated Implementation Cost</a:t>
            </a:r>
            <a:endParaRPr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marL="0" indent="0">
              <a:buNone/>
            </a:pPr>
            <a:endParaRPr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marL="0" indent="0" algn="l">
              <a:buNone/>
            </a:pPr>
            <a:r>
              <a:rPr sz="1400" b="1">
                <a:solidFill>
                  <a:srgbClr val="202729"/>
                </a:solidFill>
                <a:latin typeface="Manrope"/>
              </a:rPr>
              <a:t>MVP (1–5 tenants, 1,000 users)</a:t>
            </a:r>
          </a:p>
          <a:p>
            <a:pPr marL="0" indent="0">
              <a:buNone/>
            </a:pPr>
            <a:endParaRPr sz="1400" b="1">
              <a:solidFill>
                <a:srgbClr val="202729"/>
              </a:solidFill>
              <a:latin typeface="Manrope"/>
            </a:endParaRPr>
          </a:p>
          <a:p>
            <a:pPr marL="457200" indent="-330200" algn="l">
              <a:buClr>
                <a:srgbClr val="202729"/>
              </a:buClr>
              <a:buSzPts val="1300"/>
              <a:buFont typeface="Manrope SemiBold"/>
              <a:buChar char="●"/>
            </a:pPr>
            <a:r>
              <a:rPr sz="1300" b="0">
                <a:solidFill>
                  <a:srgbClr val="202729"/>
                </a:solidFill>
                <a:latin typeface="Manrope SemiBold"/>
              </a:rPr>
              <a:t>Cloud hosting:  ~$150 – $300 / month</a:t>
            </a:r>
          </a:p>
          <a:p>
            <a:pPr marL="457200" indent="-330200" algn="l">
              <a:buClr>
                <a:srgbClr val="202729"/>
              </a:buClr>
              <a:buSzPts val="1300"/>
              <a:buFont typeface="Manrope SemiBold"/>
              <a:buChar char="●"/>
            </a:pPr>
            <a:r>
              <a:rPr sz="1300" b="0">
                <a:solidFill>
                  <a:srgbClr val="202729"/>
                </a:solidFill>
                <a:latin typeface="Manrope SemiBold"/>
              </a:rPr>
              <a:t>LLM API usage:  ~$200 / month (controlled usage)</a:t>
            </a:r>
          </a:p>
          <a:p>
            <a:pPr marL="457200" indent="-330200" algn="l">
              <a:buClr>
                <a:srgbClr val="202729"/>
              </a:buClr>
              <a:buSzPts val="1300"/>
              <a:buFont typeface="Manrope SemiBold"/>
              <a:buChar char="●"/>
            </a:pPr>
            <a:r>
              <a:rPr sz="1300" b="0">
                <a:solidFill>
                  <a:srgbClr val="202729"/>
                </a:solidFill>
                <a:latin typeface="Manrope SemiBold"/>
              </a:rPr>
              <a:t>Storage &amp; CDN:  ~$50 / month</a:t>
            </a:r>
          </a:p>
          <a:p>
            <a:pPr marL="0" indent="0">
              <a:buNone/>
            </a:pPr>
            <a:endParaRPr sz="1300" b="0">
              <a:solidFill>
                <a:srgbClr val="202729"/>
              </a:solidFill>
              <a:latin typeface="Manrope SemiBold"/>
            </a:endParaRPr>
          </a:p>
          <a:p>
            <a:pPr marL="0" indent="0" algn="l">
              <a:buNone/>
            </a:pPr>
            <a:r>
              <a:rPr sz="1500" b="1">
                <a:solidFill>
                  <a:srgbClr val="1B7A3D"/>
                </a:solidFill>
                <a:latin typeface="Manrope"/>
              </a:rPr>
              <a:t>Total Estimated MVP Cost:  ~$400 – $600 / month</a:t>
            </a:r>
          </a:p>
          <a:p>
            <a:pPr marL="0" indent="0">
              <a:buNone/>
            </a:pPr>
            <a:endParaRPr sz="1500" b="1">
              <a:solidFill>
                <a:srgbClr val="1B7A3D"/>
              </a:solidFill>
              <a:latin typeface="Manrope"/>
            </a:endParaRPr>
          </a:p>
          <a:p>
            <a:pPr marL="0" indent="0" algn="l">
              <a:buNone/>
            </a:pPr>
            <a:r>
              <a:rPr sz="1200" b="0">
                <a:solidFill>
                  <a:srgbClr val="202729"/>
                </a:solidFill>
                <a:latin typeface="Manrope SemiBold"/>
              </a:rPr>
              <a:t>Production cost scales based on user growth and AI usage.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I for Bhar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10896" y="914400"/>
            <a:ext cx="7534656" cy="3200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>
            <a:spAutoFit/>
          </a:bodyPr>
          <a:lstStyle/>
          <a:p>
            <a:pPr marL="0" indent="0" algn="l">
              <a:buNone/>
            </a:pPr>
            <a:r>
              <a:rPr sz="2000" b="1">
                <a:solidFill>
                  <a:srgbClr val="202729"/>
                </a:solidFill>
                <a:latin typeface="Manrope"/>
              </a:rPr>
              <a:t>Why This Matters</a:t>
            </a:r>
          </a:p>
          <a:p>
            <a:pPr marL="0" indent="0">
              <a:buNone/>
            </a:pPr>
            <a:endParaRPr sz="2000" b="1">
              <a:solidFill>
                <a:srgbClr val="202729"/>
              </a:solidFill>
              <a:latin typeface="Manrope"/>
            </a:endParaRPr>
          </a:p>
          <a:p>
            <a:pPr marL="0" indent="0" algn="l">
              <a:buNone/>
            </a:pPr>
            <a:r>
              <a:rPr sz="1400" b="0">
                <a:solidFill>
                  <a:srgbClr val="202729"/>
                </a:solidFill>
                <a:latin typeface="Manrope SemiBold"/>
              </a:rPr>
              <a:t>KrishiMitra-AI empowers rural communities with:</a:t>
            </a:r>
          </a:p>
          <a:p>
            <a:pPr marL="0" indent="0">
              <a:buNone/>
            </a:pPr>
            <a:endParaRPr sz="1400" b="0">
              <a:solidFill>
                <a:srgbClr val="202729"/>
              </a:solidFill>
              <a:latin typeface="Manrope SemiBold"/>
            </a:endParaRPr>
          </a:p>
          <a:p>
            <a:pPr marL="457200" indent="-330200" algn="l">
              <a:buClr>
                <a:srgbClr val="202729"/>
              </a:buClr>
              <a:buSzPts val="1400"/>
              <a:buFont typeface="Manrope SemiBold"/>
              <a:buChar char="●"/>
            </a:pPr>
            <a:r>
              <a:rPr sz="1400" b="0">
                <a:solidFill>
                  <a:srgbClr val="202729"/>
                </a:solidFill>
                <a:latin typeface="Manrope SemiBold"/>
              </a:rPr>
              <a:t>Data-driven confidence</a:t>
            </a:r>
          </a:p>
          <a:p>
            <a:pPr marL="457200" indent="-330200" algn="l">
              <a:buClr>
                <a:srgbClr val="202729"/>
              </a:buClr>
              <a:buSzPts val="1400"/>
              <a:buFont typeface="Manrope SemiBold"/>
              <a:buChar char="●"/>
            </a:pPr>
            <a:r>
              <a:rPr sz="1400" b="0">
                <a:solidFill>
                  <a:srgbClr val="202729"/>
                </a:solidFill>
                <a:latin typeface="Manrope SemiBold"/>
              </a:rPr>
              <a:t>Sustainable practices</a:t>
            </a:r>
          </a:p>
          <a:p>
            <a:pPr marL="457200" indent="-330200" algn="l">
              <a:buClr>
                <a:srgbClr val="202729"/>
              </a:buClr>
              <a:buSzPts val="1400"/>
              <a:buFont typeface="Manrope SemiBold"/>
              <a:buChar char="●"/>
            </a:pPr>
            <a:r>
              <a:rPr sz="1400" b="0">
                <a:solidFill>
                  <a:srgbClr val="202729"/>
                </a:solidFill>
                <a:latin typeface="Manrope SemiBold"/>
              </a:rPr>
              <a:t>Climate resilience</a:t>
            </a:r>
          </a:p>
          <a:p>
            <a:pPr marL="457200" indent="-330200" algn="l">
              <a:buClr>
                <a:srgbClr val="202729"/>
              </a:buClr>
              <a:buSzPts val="1400"/>
              <a:buFont typeface="Manrope SemiBold"/>
              <a:buChar char="●"/>
            </a:pPr>
            <a:r>
              <a:rPr sz="1400" b="0">
                <a:solidFill>
                  <a:srgbClr val="202729"/>
                </a:solidFill>
                <a:latin typeface="Manrope SemiBold"/>
              </a:rPr>
              <a:t>Responsible AI</a:t>
            </a:r>
          </a:p>
          <a:p>
            <a:pPr marL="0" indent="0">
              <a:buNone/>
            </a:pPr>
            <a:endParaRPr sz="1400" b="0">
              <a:solidFill>
                <a:srgbClr val="202729"/>
              </a:solidFill>
              <a:latin typeface="Manrope SemiBold"/>
            </a:endParaRPr>
          </a:p>
          <a:p>
            <a:pPr marL="0" indent="0" algn="l">
              <a:buNone/>
            </a:pPr>
            <a:r>
              <a:rPr sz="1400" b="1">
                <a:solidFill>
                  <a:srgbClr val="1B7A3D"/>
                </a:solidFill>
                <a:latin typeface="Manrope"/>
              </a:rPr>
              <a:t>It transforms AI from a tool into a trusted decision partner for farmers.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23" descr="AI for Bharat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589</Words>
  <Application>Microsoft Office PowerPoint</Application>
  <PresentationFormat>On-screen Show (16:9)</PresentationFormat>
  <Paragraphs>143</Paragraphs>
  <Slides>12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Manrope</vt:lpstr>
      <vt:lpstr>Manrope SemiBold</vt:lpstr>
      <vt:lpstr>Arial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Tate, Sagar</cp:lastModifiedBy>
  <cp:revision>5</cp:revision>
  <dcterms:modified xsi:type="dcterms:W3CDTF">2026-02-12T15:25:47Z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fe6ee112-9e5c-4f16-b63d-fcad06e1707e_Enabled">
    <vt:lpwstr>true</vt:lpwstr>
  </property>
  <property fmtid="{D5CDD505-2E9C-101B-9397-08002B2CF9AE}" pid="3" name="MSIP_Label_fe6ee112-9e5c-4f16-b63d-fcad06e1707e_SetDate">
    <vt:lpwstr>2026-02-12T12:14:03Z</vt:lpwstr>
  </property>
  <property fmtid="{D5CDD505-2E9C-101B-9397-08002B2CF9AE}" pid="4" name="MSIP_Label_fe6ee112-9e5c-4f16-b63d-fcad06e1707e_Method">
    <vt:lpwstr>Standard</vt:lpwstr>
  </property>
  <property fmtid="{D5CDD505-2E9C-101B-9397-08002B2CF9AE}" pid="5" name="MSIP_Label_fe6ee112-9e5c-4f16-b63d-fcad06e1707e_Name">
    <vt:lpwstr>Internal Use</vt:lpwstr>
  </property>
  <property fmtid="{D5CDD505-2E9C-101B-9397-08002B2CF9AE}" pid="6" name="MSIP_Label_fe6ee112-9e5c-4f16-b63d-fcad06e1707e_SiteId">
    <vt:lpwstr>8ac76c91-e7f1-41ff-a89c-3553b2da2c17</vt:lpwstr>
  </property>
  <property fmtid="{D5CDD505-2E9C-101B-9397-08002B2CF9AE}" pid="7" name="MSIP_Label_fe6ee112-9e5c-4f16-b63d-fcad06e1707e_ActionId">
    <vt:lpwstr>eb7450e8-f241-4a76-9e28-1b3f993c2a51</vt:lpwstr>
  </property>
  <property fmtid="{D5CDD505-2E9C-101B-9397-08002B2CF9AE}" pid="8" name="MSIP_Label_fe6ee112-9e5c-4f16-b63d-fcad06e1707e_ContentBits">
    <vt:lpwstr>0</vt:lpwstr>
  </property>
  <property fmtid="{D5CDD505-2E9C-101B-9397-08002B2CF9AE}" pid="9" name="MSIP_Label_fe6ee112-9e5c-4f16-b63d-fcad06e1707e_Tag">
    <vt:lpwstr>10, 3, 0, 1</vt:lpwstr>
  </property>
</Properties>
</file>